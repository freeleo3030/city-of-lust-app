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AI Companion ($B)</c:v>
                </c:pt>
              </c:strCache>
            </c:strRef>
          </c:tx>
          <c:spPr>
            <a:solidFill>
              <a:srgbClr val="775CFF"/>
            </a:solidFill>
          </c:spPr>
          <c:cat>
            <c:strRef>
              <c:f>Sheet1!$A$2:$A$4</c:f>
              <c:strCache>
                <c:ptCount val="3"/>
                <c:pt idx="0">
                  <c:v>2025</c:v>
                </c:pt>
                <c:pt idx="1">
                  <c:v>2026</c:v>
                </c:pt>
                <c:pt idx="2">
                  <c:v>2030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18.35</c:v>
                </c:pt>
                <c:pt idx="1">
                  <c:v>24.09</c:v>
                </c:pt>
                <c:pt idx="2">
                  <c:v>70.91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53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941832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500" b="1">
                <a:solidFill>
                  <a:srgbClr val="F6F6F8"/>
                </a:solidFill>
                <a:latin typeface="Aptos"/>
              </a:rPr>
              <a:t>CITY OF LUST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19072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53E6C"/>
                </a:solidFill>
                <a:latin typeface="Aptos"/>
              </a:rPr>
              <a:t>Living AI Relationships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99669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6F6F8"/>
                </a:solidFill>
                <a:latin typeface="Aptos"/>
              </a:rPr>
              <a:t>실사형 AI 캐릭터 · Compatibility Engine · 자유대화가 결합된
Adult Dating &amp; Relationship RPG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511296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EB0BE"/>
                </a:solidFill>
                <a:latin typeface="Aptos"/>
              </a:rPr>
              <a:t>한국 PC 시장에서 먼저 검증 → 비영어권 글로벌 시장으로 확장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4224528"/>
            <a:ext cx="1874519" cy="384048"/>
          </a:xfrm>
          <a:prstGeom prst="roundRect">
            <a:avLst/>
          </a:prstGeom>
          <a:solidFill>
            <a:srgbClr val="E53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4297680"/>
            <a:ext cx="187451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F6F6F8"/>
                </a:solidFill>
                <a:latin typeface="Aptos"/>
              </a:rPr>
              <a:t>AI NPC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39" y="4224528"/>
            <a:ext cx="1874519" cy="384048"/>
          </a:xfrm>
          <a:prstGeom prst="roundRect">
            <a:avLst/>
          </a:prstGeom>
          <a:solidFill>
            <a:srgbClr val="77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39" y="4297680"/>
            <a:ext cx="187451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F6F6F8"/>
                </a:solidFill>
                <a:latin typeface="Aptos"/>
              </a:rPr>
              <a:t>COMPATIBILITY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19472" y="4224528"/>
            <a:ext cx="1874519" cy="384048"/>
          </a:xfrm>
          <a:prstGeom prst="roundRect">
            <a:avLst/>
          </a:prstGeom>
          <a:solidFill>
            <a:srgbClr val="32C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19472" y="4297680"/>
            <a:ext cx="187451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F6F6F8"/>
                </a:solidFill>
                <a:latin typeface="Aptos"/>
              </a:rPr>
              <a:t>MEMORY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04304" y="4224528"/>
            <a:ext cx="1874519" cy="384048"/>
          </a:xfrm>
          <a:prstGeom prst="roundRect">
            <a:avLst/>
          </a:prstGeom>
          <a:solidFill>
            <a:srgbClr val="EFB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04304" y="4297680"/>
            <a:ext cx="187451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F6F6F8"/>
                </a:solidFill>
                <a:latin typeface="Aptos"/>
              </a:rPr>
              <a:t>KOREAN / ENGLISH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6053328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EB0BE"/>
                </a:solidFill>
                <a:latin typeface="Aptos"/>
              </a:rPr>
              <a:t>Investor IR Draft · September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84280" y="633679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EB0BE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53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53E6C"/>
                </a:solidFill>
                <a:latin typeface="Aptos"/>
              </a:rPr>
              <a:t>01 /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6F6F8"/>
                </a:solidFill>
                <a:latin typeface="Aptos"/>
              </a:rPr>
              <a:t>현재 시장의 두 제품군 사이에 비어 있는 공간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965960"/>
            <a:ext cx="3383280" cy="3337560"/>
          </a:xfrm>
          <a:prstGeom prst="roundRect">
            <a:avLst/>
          </a:prstGeom>
          <a:solidFill>
            <a:srgbClr val="171821"/>
          </a:solidFill>
          <a:ln>
            <a:solidFill>
              <a:srgbClr val="303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965960"/>
            <a:ext cx="50292" cy="3337560"/>
          </a:xfrm>
          <a:prstGeom prst="rect">
            <a:avLst/>
          </a:prstGeom>
          <a:solidFill>
            <a:srgbClr val="E53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185415"/>
            <a:ext cx="29443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6F6F8"/>
                </a:solidFill>
                <a:latin typeface="Aptos"/>
              </a:rPr>
              <a:t>Scripted Adult Dating Sim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660904"/>
            <a:ext cx="2944368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EB0BE"/>
                </a:solidFill>
                <a:latin typeface="Aptos"/>
              </a:rPr>
              <a:t>• 콘텐츠는 강하지만 선택지가 정해져 있음
• 공략법이 반복되면 캐릭터가 ‘콘텐츠’로 보임
• 플레이어 기억과 장기 관계 변화가 제한적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965960"/>
            <a:ext cx="3383280" cy="3337560"/>
          </a:xfrm>
          <a:prstGeom prst="roundRect">
            <a:avLst/>
          </a:prstGeom>
          <a:solidFill>
            <a:srgbClr val="171821"/>
          </a:solidFill>
          <a:ln>
            <a:solidFill>
              <a:srgbClr val="303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1965960"/>
            <a:ext cx="50292" cy="3337560"/>
          </a:xfrm>
          <a:prstGeom prst="rect">
            <a:avLst/>
          </a:prstGeom>
          <a:solidFill>
            <a:srgbClr val="77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6864" y="2185415"/>
            <a:ext cx="29443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6F6F8"/>
                </a:solidFill>
                <a:latin typeface="Aptos"/>
              </a:rPr>
              <a:t>AI Companion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2660904"/>
            <a:ext cx="2944368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EB0BE"/>
                </a:solidFill>
                <a:latin typeface="Aptos"/>
              </a:rPr>
              <a:t>• 자유로운 대화와 개인화
• 그러나 게임 목표·리스크·발견·성취 구조가 약함
• ‘대화 서비스’에서 벗어나기 어려움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965960"/>
            <a:ext cx="3383280" cy="3337560"/>
          </a:xfrm>
          <a:prstGeom prst="roundRect">
            <a:avLst/>
          </a:prstGeom>
          <a:solidFill>
            <a:srgbClr val="171821"/>
          </a:solidFill>
          <a:ln>
            <a:solidFill>
              <a:srgbClr val="303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1583" y="1965960"/>
            <a:ext cx="50292" cy="3337560"/>
          </a:xfrm>
          <a:prstGeom prst="rect">
            <a:avLst/>
          </a:prstGeom>
          <a:solidFill>
            <a:srgbClr val="32C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185415"/>
            <a:ext cx="29443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6F6F8"/>
                </a:solidFill>
                <a:latin typeface="Aptos"/>
              </a:rPr>
              <a:t>City of Lust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660904"/>
            <a:ext cx="2944368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EB0BE"/>
                </a:solidFill>
                <a:latin typeface="Aptos"/>
              </a:rPr>
              <a:t>AI의 자유도에 Dating Game의 목표·궁합·관계 변화·시각적 보상을 결합
→ ‘대화하는 앱’이 아니라 ‘살아있는 관계 게임’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669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6F6F8"/>
                </a:solidFill>
                <a:latin typeface="Aptos"/>
              </a:rPr>
              <a:t>Opportunity = GAME × AI COMPANION × REALISTIC CHARACTER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33679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EB0BE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53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53E6C"/>
                </a:solidFill>
                <a:latin typeface="Aptos"/>
              </a:rPr>
              <a:t>02 /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6F6F8"/>
                </a:solidFill>
                <a:latin typeface="Aptos"/>
              </a:rPr>
              <a:t>핵심 제품은 Life Sim이 아니라 ‘Relationship Game’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176272"/>
            <a:ext cx="1600200" cy="1234440"/>
          </a:xfrm>
          <a:prstGeom prst="roundRect">
            <a:avLst/>
          </a:prstGeom>
          <a:solidFill>
            <a:srgbClr val="171821"/>
          </a:solidFill>
          <a:ln>
            <a:solidFill>
              <a:srgbClr val="E53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2441448"/>
            <a:ext cx="14538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6F6F8"/>
                </a:solidFill>
                <a:latin typeface="Aptos"/>
              </a:rPr>
              <a:t>MEET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2852928"/>
            <a:ext cx="14538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AEB0BE"/>
                </a:solidFill>
                <a:latin typeface="Aptos"/>
              </a:rPr>
              <a:t>발견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95144" y="2596896"/>
            <a:ext cx="2194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AEB0BE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32887" y="2176272"/>
            <a:ext cx="1600200" cy="1234440"/>
          </a:xfrm>
          <a:prstGeom prst="roundRect">
            <a:avLst/>
          </a:prstGeom>
          <a:solidFill>
            <a:srgbClr val="1F202B"/>
          </a:solidFill>
          <a:ln>
            <a:solidFill>
              <a:srgbClr val="77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39" y="2441448"/>
            <a:ext cx="14538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6F6F8"/>
                </a:solidFill>
                <a:latin typeface="Aptos"/>
              </a:rPr>
              <a:t>TALK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39" y="2852928"/>
            <a:ext cx="14538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AEB0BE"/>
                </a:solidFill>
                <a:latin typeface="Aptos"/>
              </a:rPr>
              <a:t>AI 대화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9663" y="2596896"/>
            <a:ext cx="2194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AEB0BE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7" y="2176272"/>
            <a:ext cx="1600200" cy="1234440"/>
          </a:xfrm>
          <a:prstGeom prst="roundRect">
            <a:avLst/>
          </a:prstGeom>
          <a:solidFill>
            <a:srgbClr val="171821"/>
          </a:solidFill>
          <a:ln>
            <a:solidFill>
              <a:srgbClr val="32C7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59" y="2441448"/>
            <a:ext cx="14538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6F6F8"/>
                </a:solidFill>
                <a:latin typeface="Aptos"/>
              </a:rPr>
              <a:t>DISCOVER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2852928"/>
            <a:ext cx="14538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AEB0BE"/>
                </a:solidFill>
                <a:latin typeface="Aptos"/>
              </a:rPr>
              <a:t>숨겨진 취향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44183" y="2596896"/>
            <a:ext cx="2194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AEB0BE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1927" y="2176272"/>
            <a:ext cx="1600200" cy="1234440"/>
          </a:xfrm>
          <a:prstGeom prst="roundRect">
            <a:avLst/>
          </a:prstGeom>
          <a:solidFill>
            <a:srgbClr val="1F202B"/>
          </a:solidFill>
          <a:ln>
            <a:solidFill>
              <a:srgbClr val="EFB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79" y="2441448"/>
            <a:ext cx="14538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6F6F8"/>
                </a:solidFill>
                <a:latin typeface="Aptos"/>
              </a:rPr>
              <a:t>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79" y="2852928"/>
            <a:ext cx="14538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AEB0BE"/>
                </a:solidFill>
                <a:latin typeface="Aptos"/>
              </a:rPr>
              <a:t>관계 변화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18704" y="2596896"/>
            <a:ext cx="2194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AEB0BE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56448" y="2176272"/>
            <a:ext cx="1600200" cy="1234440"/>
          </a:xfrm>
          <a:prstGeom prst="roundRect">
            <a:avLst/>
          </a:prstGeom>
          <a:solidFill>
            <a:srgbClr val="171821"/>
          </a:solidFill>
          <a:ln>
            <a:solidFill>
              <a:srgbClr val="E53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2441448"/>
            <a:ext cx="14538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6F6F8"/>
                </a:solidFill>
                <a:latin typeface="Aptos"/>
              </a:rPr>
              <a:t>INTIMACY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852928"/>
            <a:ext cx="14538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AEB0BE"/>
                </a:solidFill>
                <a:latin typeface="Aptos"/>
              </a:rPr>
              <a:t>반응 발견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3224" y="2596896"/>
            <a:ext cx="2194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AEB0BE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30968" y="2176272"/>
            <a:ext cx="1600200" cy="1234440"/>
          </a:xfrm>
          <a:prstGeom prst="roundRect">
            <a:avLst/>
          </a:prstGeom>
          <a:solidFill>
            <a:srgbClr val="1F202B"/>
          </a:solidFill>
          <a:ln>
            <a:solidFill>
              <a:srgbClr val="77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04120" y="2441448"/>
            <a:ext cx="14538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6F6F8"/>
                </a:solidFill>
                <a:latin typeface="Aptos"/>
              </a:rPr>
              <a:t>REMEMBER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04120" y="2852928"/>
            <a:ext cx="14538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AEB0BE"/>
                </a:solidFill>
                <a:latin typeface="Aptos"/>
              </a:rPr>
              <a:t>후속 관계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" y="3931920"/>
            <a:ext cx="3401568" cy="1417320"/>
          </a:xfrm>
          <a:prstGeom prst="roundRect">
            <a:avLst/>
          </a:prstGeom>
          <a:solidFill>
            <a:srgbClr val="171821"/>
          </a:solidFill>
          <a:ln>
            <a:solidFill>
              <a:srgbClr val="303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13232" y="3931920"/>
            <a:ext cx="50292" cy="1417320"/>
          </a:xfrm>
          <a:prstGeom prst="rect">
            <a:avLst/>
          </a:prstGeom>
          <a:solidFill>
            <a:srgbClr val="EFB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4151376"/>
            <a:ext cx="29626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6F6F8"/>
                </a:solidFill>
                <a:latin typeface="Aptos"/>
              </a:rPr>
              <a:t>Minimal Life Layer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4626864"/>
            <a:ext cx="2962656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EB0BE"/>
                </a:solidFill>
                <a:latin typeface="Aptos"/>
              </a:rPr>
              <a:t>Time · Money · Location · Basic Growth
관계 선택에 기회비용을 주는 정도만 구현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98264" y="3931920"/>
            <a:ext cx="3401568" cy="1417320"/>
          </a:xfrm>
          <a:prstGeom prst="roundRect">
            <a:avLst/>
          </a:prstGeom>
          <a:solidFill>
            <a:srgbClr val="171821"/>
          </a:solidFill>
          <a:ln>
            <a:solidFill>
              <a:srgbClr val="303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98264" y="3931920"/>
            <a:ext cx="50292" cy="1417320"/>
          </a:xfrm>
          <a:prstGeom prst="rect">
            <a:avLst/>
          </a:prstGeom>
          <a:solidFill>
            <a:srgbClr val="32C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17720" y="4151376"/>
            <a:ext cx="29626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6F6F8"/>
                </a:solidFill>
                <a:latin typeface="Aptos"/>
              </a:rPr>
              <a:t>Single Player First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7720" y="4626864"/>
            <a:ext cx="2962656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EB0BE"/>
                </a:solidFill>
                <a:latin typeface="Aptos"/>
              </a:rPr>
              <a:t>개인적 몰입과 NPC 관계를 우선
MMO 복잡도를 초기 제품에서 제거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83296" y="3931920"/>
            <a:ext cx="3401568" cy="1417320"/>
          </a:xfrm>
          <a:prstGeom prst="roundRect">
            <a:avLst/>
          </a:prstGeom>
          <a:solidFill>
            <a:srgbClr val="171821"/>
          </a:solidFill>
          <a:ln>
            <a:solidFill>
              <a:srgbClr val="303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83296" y="3931920"/>
            <a:ext cx="50292" cy="1417320"/>
          </a:xfrm>
          <a:prstGeom prst="rect">
            <a:avLst/>
          </a:prstGeom>
          <a:solidFill>
            <a:srgbClr val="77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02752" y="4151376"/>
            <a:ext cx="29626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6F6F8"/>
                </a:solidFill>
                <a:latin typeface="Aptos"/>
              </a:rPr>
              <a:t>World-Building Open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02752" y="4626864"/>
            <a:ext cx="2962656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EB0BE"/>
                </a:solidFill>
                <a:latin typeface="Aptos"/>
              </a:rPr>
              <a:t>국제도시/한국 기반 도시 등은 플레이테스트 후 확정
세계관보다 핵심 루프를 먼저 검증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84280" y="633679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EB0BE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53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53E6C"/>
                </a:solidFill>
                <a:latin typeface="Aptos"/>
              </a:rPr>
              <a:t>03 / CORE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6F6F8"/>
                </a:solidFill>
                <a:latin typeface="Aptos"/>
              </a:rPr>
              <a:t>‘다음에 무슨 일이 생길지 모른다’가 반복 플레이를 만든다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2240280"/>
            <a:ext cx="1353312" cy="1170432"/>
          </a:xfrm>
          <a:prstGeom prst="roundRect">
            <a:avLst/>
          </a:prstGeom>
          <a:solidFill>
            <a:srgbClr val="171821"/>
          </a:solidFill>
          <a:ln>
            <a:solidFill>
              <a:srgbClr val="E53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2459736"/>
            <a:ext cx="12070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6F6F8"/>
                </a:solidFill>
                <a:latin typeface="Aptos"/>
              </a:rPr>
              <a:t>Attraction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2852928"/>
            <a:ext cx="1207008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AEB0BE"/>
                </a:solidFill>
                <a:latin typeface="Aptos"/>
              </a:rPr>
              <a:t>첫인상·외모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31136" y="2240280"/>
            <a:ext cx="1353312" cy="1170432"/>
          </a:xfrm>
          <a:prstGeom prst="roundRect">
            <a:avLst/>
          </a:prstGeom>
          <a:solidFill>
            <a:srgbClr val="171821"/>
          </a:solidFill>
          <a:ln>
            <a:solidFill>
              <a:srgbClr val="77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04288" y="2459736"/>
            <a:ext cx="12070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6F6F8"/>
                </a:solidFill>
                <a:latin typeface="Aptos"/>
              </a:rPr>
              <a:t>Curiosity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04288" y="2852928"/>
            <a:ext cx="1207008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AEB0BE"/>
                </a:solidFill>
                <a:latin typeface="Aptos"/>
              </a:rPr>
              <a:t>숨겨진 취향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58768" y="2240280"/>
            <a:ext cx="1353312" cy="1170432"/>
          </a:xfrm>
          <a:prstGeom prst="roundRect">
            <a:avLst/>
          </a:prstGeom>
          <a:solidFill>
            <a:srgbClr val="171821"/>
          </a:solidFill>
          <a:ln>
            <a:solidFill>
              <a:srgbClr val="32C7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0" y="2459736"/>
            <a:ext cx="12070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6F6F8"/>
                </a:solidFill>
                <a:latin typeface="Aptos"/>
              </a:rPr>
              <a:t>Uncertainty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852928"/>
            <a:ext cx="1207008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AEB0BE"/>
                </a:solidFill>
                <a:latin typeface="Aptos"/>
              </a:rPr>
              <a:t>상대의 의도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0" y="2240280"/>
            <a:ext cx="1353312" cy="1170432"/>
          </a:xfrm>
          <a:prstGeom prst="roundRect">
            <a:avLst/>
          </a:prstGeom>
          <a:solidFill>
            <a:srgbClr val="171821"/>
          </a:solidFill>
          <a:ln>
            <a:solidFill>
              <a:srgbClr val="EFB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59552" y="2459736"/>
            <a:ext cx="12070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6F6F8"/>
                </a:solidFill>
                <a:latin typeface="Aptos"/>
              </a:rPr>
              <a:t>Discovery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59552" y="2852928"/>
            <a:ext cx="1207008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AEB0BE"/>
                </a:solidFill>
                <a:latin typeface="Aptos"/>
              </a:rPr>
              <a:t>궁합 파악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14032" y="2240280"/>
            <a:ext cx="1353312" cy="1170432"/>
          </a:xfrm>
          <a:prstGeom prst="roundRect">
            <a:avLst/>
          </a:prstGeom>
          <a:solidFill>
            <a:srgbClr val="171821"/>
          </a:solidFill>
          <a:ln>
            <a:solidFill>
              <a:srgbClr val="4C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87184" y="2459736"/>
            <a:ext cx="12070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6F6F8"/>
                </a:solidFill>
                <a:latin typeface="Aptos"/>
              </a:rPr>
              <a:t>Reward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87184" y="2852928"/>
            <a:ext cx="1207008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AEB0BE"/>
                </a:solidFill>
                <a:latin typeface="Aptos"/>
              </a:rPr>
              <a:t>관계 진전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41664" y="2240280"/>
            <a:ext cx="1353312" cy="1170432"/>
          </a:xfrm>
          <a:prstGeom prst="roundRect">
            <a:avLst/>
          </a:prstGeom>
          <a:solidFill>
            <a:srgbClr val="171821"/>
          </a:solidFill>
          <a:ln>
            <a:solidFill>
              <a:srgbClr val="EE5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14816" y="2459736"/>
            <a:ext cx="12070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6F6F8"/>
                </a:solidFill>
                <a:latin typeface="Aptos"/>
              </a:rPr>
              <a:t>Complication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14816" y="2852928"/>
            <a:ext cx="1207008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AEB0BE"/>
                </a:solidFill>
                <a:latin typeface="Aptos"/>
              </a:rPr>
              <a:t>갈등·돌발사건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69296" y="2240280"/>
            <a:ext cx="1353312" cy="1170432"/>
          </a:xfrm>
          <a:prstGeom prst="roundRect">
            <a:avLst/>
          </a:prstGeom>
          <a:solidFill>
            <a:srgbClr val="171821"/>
          </a:solidFill>
          <a:ln>
            <a:solidFill>
              <a:srgbClr val="E53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42448" y="2459736"/>
            <a:ext cx="12070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6F6F8"/>
                </a:solidFill>
                <a:latin typeface="Aptos"/>
              </a:rPr>
              <a:t>Deeper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42448" y="2852928"/>
            <a:ext cx="1207008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AEB0BE"/>
                </a:solidFill>
                <a:latin typeface="Aptos"/>
              </a:rPr>
              <a:t>더 깊은 관계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931920"/>
            <a:ext cx="5212080" cy="1463040"/>
          </a:xfrm>
          <a:prstGeom prst="roundRect">
            <a:avLst/>
          </a:prstGeom>
          <a:solidFill>
            <a:srgbClr val="171821"/>
          </a:solidFill>
          <a:ln>
            <a:solidFill>
              <a:srgbClr val="303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3931920"/>
            <a:ext cx="50292" cy="1463040"/>
          </a:xfrm>
          <a:prstGeom prst="rect">
            <a:avLst/>
          </a:prstGeom>
          <a:solidFill>
            <a:srgbClr val="E53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" y="4151376"/>
            <a:ext cx="47731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6F6F8"/>
                </a:solidFill>
                <a:latin typeface="Aptos"/>
              </a:rPr>
              <a:t>Daily Hook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" y="4626864"/>
            <a:ext cx="477316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EB0BE"/>
                </a:solidFill>
                <a:latin typeface="Aptos"/>
              </a:rPr>
              <a:t>NPC의 선제 연락 · 새로운 만남 · 관계 위기 · 숨겨진 이벤트
→ 게임을 켰을 때 ‘오늘의 사건’이 존재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45352" y="3931920"/>
            <a:ext cx="5212080" cy="1463040"/>
          </a:xfrm>
          <a:prstGeom prst="roundRect">
            <a:avLst/>
          </a:prstGeom>
          <a:solidFill>
            <a:srgbClr val="171821"/>
          </a:solidFill>
          <a:ln>
            <a:solidFill>
              <a:srgbClr val="303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45352" y="3931920"/>
            <a:ext cx="50292" cy="1463040"/>
          </a:xfrm>
          <a:prstGeom prst="rect">
            <a:avLst/>
          </a:prstGeom>
          <a:solidFill>
            <a:srgbClr val="32C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4808" y="4151376"/>
            <a:ext cx="47731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6F6F8"/>
                </a:solidFill>
                <a:latin typeface="Aptos"/>
              </a:rPr>
              <a:t>Long-Term Hook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4808" y="4626864"/>
            <a:ext cx="477316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EB0BE"/>
                </a:solidFill>
                <a:latin typeface="Aptos"/>
              </a:rPr>
              <a:t>캐릭터가 과거 대화를 기억하고 관계의 결과가 다음 만남에 누적
→ 반복 장면이 아니라 개인화된 관계 History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84280" y="633679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EB0BE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53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53E6C"/>
                </a:solidFill>
                <a:latin typeface="Aptos"/>
              </a:rPr>
              <a:t>04 /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6F6F8"/>
                </a:solidFill>
                <a:latin typeface="Aptos"/>
              </a:rPr>
              <a:t>Compatibility Engine이 캐릭터마다 다른 ‘공략 공식’을 만든다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920240"/>
            <a:ext cx="3401568" cy="3611880"/>
          </a:xfrm>
          <a:prstGeom prst="roundRect">
            <a:avLst/>
          </a:prstGeom>
          <a:solidFill>
            <a:srgbClr val="171821"/>
          </a:solidFill>
          <a:ln>
            <a:solidFill>
              <a:srgbClr val="303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920240"/>
            <a:ext cx="50292" cy="3611880"/>
          </a:xfrm>
          <a:prstGeom prst="rect">
            <a:avLst/>
          </a:prstGeom>
          <a:solidFill>
            <a:srgbClr val="E53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139696"/>
            <a:ext cx="29626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6F6F8"/>
                </a:solidFill>
                <a:latin typeface="Aptos"/>
              </a:rPr>
              <a:t>현재 구현 기반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615184"/>
            <a:ext cx="2962656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EB0BE"/>
                </a:solidFill>
                <a:latin typeface="Aptos"/>
              </a:rPr>
              <a:t>여성 연령대별 접근 난이도
결혼 상태별 난이도
남녀 연령 궁합
외모·성격·재력 선호
친밀감 선호와 반응
캐릭터별 가중치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8264" y="1920240"/>
            <a:ext cx="3401568" cy="3611880"/>
          </a:xfrm>
          <a:prstGeom prst="roundRect">
            <a:avLst/>
          </a:prstGeom>
          <a:solidFill>
            <a:srgbClr val="171821"/>
          </a:solidFill>
          <a:ln>
            <a:solidFill>
              <a:srgbClr val="303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98264" y="1920240"/>
            <a:ext cx="50292" cy="3611880"/>
          </a:xfrm>
          <a:prstGeom prst="rect">
            <a:avLst/>
          </a:prstGeom>
          <a:solidFill>
            <a:srgbClr val="77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139696"/>
            <a:ext cx="29626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6F6F8"/>
                </a:solidFill>
                <a:latin typeface="Aptos"/>
              </a:rPr>
              <a:t>플레이어가 느끼는 차이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615184"/>
            <a:ext cx="2962656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EB0BE"/>
                </a:solidFill>
                <a:latin typeface="Aptos"/>
              </a:rPr>
              <a:t>같은 칭찬도 캐릭터별 반응이 다름
같은 남캐도 누구에게는 매력적, 누구에게는 비선호
관계 진전 속도와 요구 Trust가 달라짐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920240"/>
            <a:ext cx="3401568" cy="3611880"/>
          </a:xfrm>
          <a:prstGeom prst="roundRect">
            <a:avLst/>
          </a:prstGeom>
          <a:solidFill>
            <a:srgbClr val="171821"/>
          </a:solidFill>
          <a:ln>
            <a:solidFill>
              <a:srgbClr val="303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83296" y="1920240"/>
            <a:ext cx="50292" cy="3611880"/>
          </a:xfrm>
          <a:prstGeom prst="rect">
            <a:avLst/>
          </a:prstGeom>
          <a:solidFill>
            <a:srgbClr val="32C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2139696"/>
            <a:ext cx="29626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6F6F8"/>
                </a:solidFill>
                <a:latin typeface="Aptos"/>
              </a:rPr>
              <a:t>확장 가능한 데이터 자산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615184"/>
            <a:ext cx="2962656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EB0BE"/>
                </a:solidFill>
                <a:latin typeface="Aptos"/>
              </a:rPr>
              <a:t>Perfect Match / Slow Burn
Fatal Attraction
Hidden Preference
Relationship Style
플레이 기록 기반 My Type 분석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824728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6F6F8"/>
                </a:solidFill>
                <a:latin typeface="Aptos"/>
              </a:rPr>
              <a:t>목표: 5명의 NPC를 플레이했을 때 5개의 서로 다른 ‘관계 이야기’가 남는가?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33679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EB0BE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53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53E6C"/>
                </a:solidFill>
                <a:latin typeface="Aptos"/>
              </a:rPr>
              <a:t>05 / AI NATIVE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6F6F8"/>
                </a:solidFill>
                <a:latin typeface="Aptos"/>
              </a:rPr>
              <a:t>AI NPC의 경쟁력은 ‘대화 생성’보다 기억·선제행동·상황 적응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965960"/>
            <a:ext cx="3401568" cy="3337560"/>
          </a:xfrm>
          <a:prstGeom prst="roundRect">
            <a:avLst/>
          </a:prstGeom>
          <a:solidFill>
            <a:srgbClr val="171821"/>
          </a:solidFill>
          <a:ln>
            <a:solidFill>
              <a:srgbClr val="303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965960"/>
            <a:ext cx="50292" cy="3337560"/>
          </a:xfrm>
          <a:prstGeom prst="rect">
            <a:avLst/>
          </a:prstGeom>
          <a:solidFill>
            <a:srgbClr val="E53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185415"/>
            <a:ext cx="29626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6F6F8"/>
                </a:solidFill>
                <a:latin typeface="Aptos"/>
              </a:rPr>
              <a:t>Memory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660904"/>
            <a:ext cx="296265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EB0BE"/>
                </a:solidFill>
                <a:latin typeface="Aptos"/>
              </a:rPr>
              <a:t>과거 대화·약속·취향·실수를 기억
중요한 정보의 재호출이 Trust와 애착을 만든다.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8264" y="1965960"/>
            <a:ext cx="3401568" cy="3337560"/>
          </a:xfrm>
          <a:prstGeom prst="roundRect">
            <a:avLst/>
          </a:prstGeom>
          <a:solidFill>
            <a:srgbClr val="171821"/>
          </a:solidFill>
          <a:ln>
            <a:solidFill>
              <a:srgbClr val="303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98264" y="1965960"/>
            <a:ext cx="50292" cy="3337560"/>
          </a:xfrm>
          <a:prstGeom prst="rect">
            <a:avLst/>
          </a:prstGeom>
          <a:solidFill>
            <a:srgbClr val="77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185415"/>
            <a:ext cx="29626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6F6F8"/>
                </a:solidFill>
                <a:latin typeface="Aptos"/>
              </a:rPr>
              <a:t>Initiative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660904"/>
            <a:ext cx="296265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EB0BE"/>
                </a:solidFill>
                <a:latin typeface="Aptos"/>
              </a:rPr>
              <a:t>NPC가 먼저 연락하고 데이트를 제안하며 때로는 거절·거리두기
플레이어 일방향 공략을 탈피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965960"/>
            <a:ext cx="3401568" cy="3337560"/>
          </a:xfrm>
          <a:prstGeom prst="roundRect">
            <a:avLst/>
          </a:prstGeom>
          <a:solidFill>
            <a:srgbClr val="171821"/>
          </a:solidFill>
          <a:ln>
            <a:solidFill>
              <a:srgbClr val="303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83296" y="1965960"/>
            <a:ext cx="50292" cy="3337560"/>
          </a:xfrm>
          <a:prstGeom prst="rect">
            <a:avLst/>
          </a:prstGeom>
          <a:solidFill>
            <a:srgbClr val="32C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2185415"/>
            <a:ext cx="29626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6F6F8"/>
                </a:solidFill>
                <a:latin typeface="Aptos"/>
              </a:rPr>
              <a:t>Language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660904"/>
            <a:ext cx="296265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EB0BE"/>
                </a:solidFill>
                <a:latin typeface="Aptos"/>
              </a:rPr>
              <a:t>한국어 / 영어 대화 선택
영어를 선택하면 실전 회화 경험이 자연스럽게 발생
교육 앱이 아니라 게임 플레이의 부가가치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650992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6F6F8"/>
                </a:solidFill>
                <a:latin typeface="Aptos"/>
              </a:rPr>
              <a:t>Relationship score는 영어 실력이 아니라 Respect · Listening · Humor · Empathy · Compatibility를 평가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33679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EB0BE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53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53E6C"/>
                </a:solidFill>
                <a:latin typeface="Aptos"/>
              </a:rPr>
              <a:t>06 / RETENTION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6F6F8"/>
                </a:solidFill>
                <a:latin typeface="Aptos"/>
              </a:rPr>
              <a:t>Event Director: 1인 개발에서도 ‘살아있는 도시’를 만드는 레버리지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920240"/>
            <a:ext cx="3401568" cy="1444752"/>
          </a:xfrm>
          <a:prstGeom prst="roundRect">
            <a:avLst/>
          </a:prstGeom>
          <a:solidFill>
            <a:srgbClr val="171821"/>
          </a:solidFill>
          <a:ln>
            <a:solidFill>
              <a:srgbClr val="303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920240"/>
            <a:ext cx="50292" cy="1444752"/>
          </a:xfrm>
          <a:prstGeom prst="rect">
            <a:avLst/>
          </a:prstGeom>
          <a:solidFill>
            <a:srgbClr val="E53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139696"/>
            <a:ext cx="29626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6F6F8"/>
                </a:solidFill>
                <a:latin typeface="Aptos"/>
              </a:rPr>
              <a:t>NPC Initiative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615184"/>
            <a:ext cx="2962656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EB0BE"/>
                </a:solidFill>
                <a:latin typeface="Aptos"/>
              </a:rPr>
              <a:t>먼저 연락/제안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8264" y="1920240"/>
            <a:ext cx="3401568" cy="1444752"/>
          </a:xfrm>
          <a:prstGeom prst="roundRect">
            <a:avLst/>
          </a:prstGeom>
          <a:solidFill>
            <a:srgbClr val="171821"/>
          </a:solidFill>
          <a:ln>
            <a:solidFill>
              <a:srgbClr val="303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98264" y="1920240"/>
            <a:ext cx="50292" cy="1444752"/>
          </a:xfrm>
          <a:prstGeom prst="rect">
            <a:avLst/>
          </a:prstGeom>
          <a:solidFill>
            <a:srgbClr val="77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139696"/>
            <a:ext cx="29626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6F6F8"/>
                </a:solidFill>
                <a:latin typeface="Aptos"/>
              </a:rPr>
              <a:t>Hidden Story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615184"/>
            <a:ext cx="2962656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EB0BE"/>
                </a:solidFill>
                <a:latin typeface="Aptos"/>
              </a:rPr>
              <a:t>신뢰에 따라 사연 공개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920240"/>
            <a:ext cx="3401568" cy="1444752"/>
          </a:xfrm>
          <a:prstGeom prst="roundRect">
            <a:avLst/>
          </a:prstGeom>
          <a:solidFill>
            <a:srgbClr val="171821"/>
          </a:solidFill>
          <a:ln>
            <a:solidFill>
              <a:srgbClr val="303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83296" y="1920240"/>
            <a:ext cx="50292" cy="1444752"/>
          </a:xfrm>
          <a:prstGeom prst="rect">
            <a:avLst/>
          </a:prstGeom>
          <a:solidFill>
            <a:srgbClr val="32C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2139696"/>
            <a:ext cx="29626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6F6F8"/>
                </a:solidFill>
                <a:latin typeface="Aptos"/>
              </a:rPr>
              <a:t>Conflict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615184"/>
            <a:ext cx="2962656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EB0BE"/>
                </a:solidFill>
                <a:latin typeface="Aptos"/>
              </a:rPr>
              <a:t>질투·오해·거리두기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675887"/>
            <a:ext cx="3401568" cy="1444752"/>
          </a:xfrm>
          <a:prstGeom prst="roundRect">
            <a:avLst/>
          </a:prstGeom>
          <a:solidFill>
            <a:srgbClr val="171821"/>
          </a:solidFill>
          <a:ln>
            <a:solidFill>
              <a:srgbClr val="303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" y="3675887"/>
            <a:ext cx="50292" cy="1444752"/>
          </a:xfrm>
          <a:prstGeom prst="rect">
            <a:avLst/>
          </a:prstGeom>
          <a:solidFill>
            <a:srgbClr val="EFB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895344"/>
            <a:ext cx="29626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6F6F8"/>
                </a:solidFill>
                <a:latin typeface="Aptos"/>
              </a:rPr>
              <a:t>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4370831"/>
            <a:ext cx="2962656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EB0BE"/>
                </a:solidFill>
                <a:latin typeface="Aptos"/>
              </a:rPr>
              <a:t>사과·행동 변화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98264" y="3675887"/>
            <a:ext cx="3401568" cy="1444752"/>
          </a:xfrm>
          <a:prstGeom prst="roundRect">
            <a:avLst/>
          </a:prstGeom>
          <a:solidFill>
            <a:srgbClr val="171821"/>
          </a:solidFill>
          <a:ln>
            <a:solidFill>
              <a:srgbClr val="303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98264" y="3675887"/>
            <a:ext cx="50292" cy="1444752"/>
          </a:xfrm>
          <a:prstGeom prst="rect">
            <a:avLst/>
          </a:prstGeom>
          <a:solidFill>
            <a:srgbClr val="4C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3895344"/>
            <a:ext cx="29626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6F6F8"/>
                </a:solidFill>
                <a:latin typeface="Aptos"/>
              </a:rPr>
              <a:t>Rare Encounter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370831"/>
            <a:ext cx="2962656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EB0BE"/>
                </a:solidFill>
                <a:latin typeface="Aptos"/>
              </a:rPr>
              <a:t>조건부 신규 캐릭터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83296" y="3675887"/>
            <a:ext cx="3401568" cy="1444752"/>
          </a:xfrm>
          <a:prstGeom prst="roundRect">
            <a:avLst/>
          </a:prstGeom>
          <a:solidFill>
            <a:srgbClr val="171821"/>
          </a:solidFill>
          <a:ln>
            <a:solidFill>
              <a:srgbClr val="303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83296" y="3675887"/>
            <a:ext cx="50292" cy="1444752"/>
          </a:xfrm>
          <a:prstGeom prst="rect">
            <a:avLst/>
          </a:prstGeom>
          <a:solidFill>
            <a:srgbClr val="EE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2752" y="3895344"/>
            <a:ext cx="29626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6F6F8"/>
                </a:solidFill>
                <a:latin typeface="Aptos"/>
              </a:rPr>
              <a:t>Social Graph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4370831"/>
            <a:ext cx="2962656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EB0BE"/>
                </a:solidFill>
                <a:latin typeface="Aptos"/>
              </a:rPr>
              <a:t>NPC 친구·동료 연결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5596128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53E6C"/>
                </a:solidFill>
                <a:latin typeface="Aptos"/>
              </a:rPr>
              <a:t>개발 방식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4208" y="5559552"/>
            <a:ext cx="9692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6F6F8"/>
                </a:solidFill>
                <a:latin typeface="Aptos"/>
              </a:rPr>
              <a:t>50~100개의 Event Template + AI가 현재 관계 상태에 맞는 이벤트 선택·대사 생성 → 콘텐츠 제작량을 통제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84280" y="633679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EB0BE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53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53E6C"/>
                </a:solidFill>
                <a:latin typeface="Aptos"/>
              </a:rPr>
              <a:t>07 / SIGNATURE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6F6F8"/>
                </a:solidFill>
                <a:latin typeface="Aptos"/>
              </a:rPr>
              <a:t>실사 AI 캐릭터와 반응형 친밀감 경험이 시각적 Highlight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2011680"/>
            <a:ext cx="3401568" cy="3246120"/>
          </a:xfrm>
          <a:prstGeom prst="roundRect">
            <a:avLst/>
          </a:prstGeom>
          <a:solidFill>
            <a:srgbClr val="171821"/>
          </a:solidFill>
          <a:ln>
            <a:solidFill>
              <a:srgbClr val="303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2011680"/>
            <a:ext cx="50292" cy="3246120"/>
          </a:xfrm>
          <a:prstGeom prst="rect">
            <a:avLst/>
          </a:prstGeom>
          <a:solidFill>
            <a:srgbClr val="E53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231136"/>
            <a:ext cx="29626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6F6F8"/>
                </a:solidFill>
                <a:latin typeface="Aptos"/>
              </a:rPr>
              <a:t>Identity Consistency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706624"/>
            <a:ext cx="2962656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EB0BE"/>
                </a:solidFill>
                <a:latin typeface="Aptos"/>
              </a:rPr>
              <a:t>캐릭터별 Identity Pack
얼굴·체형·스타일 일관성 유지
실사 이미지 → 짧은 영상으로 확장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8264" y="2011680"/>
            <a:ext cx="3401568" cy="3246120"/>
          </a:xfrm>
          <a:prstGeom prst="roundRect">
            <a:avLst/>
          </a:prstGeom>
          <a:solidFill>
            <a:srgbClr val="171821"/>
          </a:solidFill>
          <a:ln>
            <a:solidFill>
              <a:srgbClr val="303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98264" y="2011680"/>
            <a:ext cx="50292" cy="3246120"/>
          </a:xfrm>
          <a:prstGeom prst="rect">
            <a:avLst/>
          </a:prstGeom>
          <a:solidFill>
            <a:srgbClr val="77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231136"/>
            <a:ext cx="29626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6F6F8"/>
                </a:solidFill>
                <a:latin typeface="Aptos"/>
              </a:rPr>
              <a:t>Interactive Discovery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706624"/>
            <a:ext cx="2962656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EB0BE"/>
                </a:solidFill>
                <a:latin typeface="Aptos"/>
              </a:rPr>
              <a:t>Observe → Try → Reaction → Learn → Adapt
캐릭터별 선호·편안함·경계를 반응으로 학습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2011680"/>
            <a:ext cx="3401568" cy="3246120"/>
          </a:xfrm>
          <a:prstGeom prst="roundRect">
            <a:avLst/>
          </a:prstGeom>
          <a:solidFill>
            <a:srgbClr val="171821"/>
          </a:solidFill>
          <a:ln>
            <a:solidFill>
              <a:srgbClr val="303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83296" y="2011680"/>
            <a:ext cx="50292" cy="3246120"/>
          </a:xfrm>
          <a:prstGeom prst="rect">
            <a:avLst/>
          </a:prstGeom>
          <a:solidFill>
            <a:srgbClr val="32C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2231136"/>
            <a:ext cx="29626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6F6F8"/>
                </a:solidFill>
                <a:latin typeface="Aptos"/>
              </a:rPr>
              <a:t>Cost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706624"/>
            <a:ext cx="2962656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EB0BE"/>
                </a:solidFill>
                <a:latin typeface="Aptos"/>
              </a:rPr>
              <a:t>실시간 생성 남발 금지
Reaction clip 사전 생성·캐시
자체 GPU/오픈모델 + 핵심 장면 상용모델 Hybrid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641848"/>
            <a:ext cx="10698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6F6F8"/>
                </a:solidFill>
                <a:latin typeface="Aptos"/>
              </a:rPr>
              <a:t>핵심 KPI: 영상 화려함보다 ‘같은 캐릭터로 느껴지는가’ + ‘내 행동에 반응한다고 느끼는가’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33679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EB0BE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53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53E6C"/>
                </a:solidFill>
                <a:latin typeface="Aptos"/>
              </a:rPr>
              <a:t>08 / BEACHHEAD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6F6F8"/>
                </a:solidFill>
                <a:latin typeface="Aptos"/>
              </a:rPr>
              <a:t>첫 시장은 한국: 20대 후반~40대 남성 PC 게이머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993392"/>
            <a:ext cx="3401568" cy="3310128"/>
          </a:xfrm>
          <a:prstGeom prst="roundRect">
            <a:avLst/>
          </a:prstGeom>
          <a:solidFill>
            <a:srgbClr val="171821"/>
          </a:solidFill>
          <a:ln>
            <a:solidFill>
              <a:srgbClr val="303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993392"/>
            <a:ext cx="50292" cy="3310128"/>
          </a:xfrm>
          <a:prstGeom prst="rect">
            <a:avLst/>
          </a:prstGeom>
          <a:solidFill>
            <a:srgbClr val="E53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212848"/>
            <a:ext cx="29626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6F6F8"/>
                </a:solidFill>
                <a:latin typeface="Aptos"/>
              </a:rPr>
              <a:t>Primary Persona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688336"/>
            <a:ext cx="2962656" cy="2487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EB0BE"/>
                </a:solidFill>
                <a:latin typeface="Aptos"/>
              </a:rPr>
              <a:t>PC 게임 친숙
실사형 캐릭터 선호
Dating/relationship 콘텐츠 관심
AI 기술에 대한 호기심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8264" y="1993392"/>
            <a:ext cx="3401568" cy="3310128"/>
          </a:xfrm>
          <a:prstGeom prst="roundRect">
            <a:avLst/>
          </a:prstGeom>
          <a:solidFill>
            <a:srgbClr val="171821"/>
          </a:solidFill>
          <a:ln>
            <a:solidFill>
              <a:srgbClr val="303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98264" y="1993392"/>
            <a:ext cx="50292" cy="3310128"/>
          </a:xfrm>
          <a:prstGeom prst="rect">
            <a:avLst/>
          </a:prstGeom>
          <a:solidFill>
            <a:srgbClr val="77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212848"/>
            <a:ext cx="29626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6F6F8"/>
                </a:solidFill>
                <a:latin typeface="Aptos"/>
              </a:rPr>
              <a:t>Korean Launch Hook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688336"/>
            <a:ext cx="2962656" cy="2487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EB0BE"/>
                </a:solidFill>
                <a:latin typeface="Aptos"/>
              </a:rPr>
              <a:t>‘AI 캐릭터가 나를 기억한다’
‘사람마다 공략법이 다르다’
‘한국어/영어로 실제 대화 가능’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993392"/>
            <a:ext cx="3401568" cy="3310128"/>
          </a:xfrm>
          <a:prstGeom prst="roundRect">
            <a:avLst/>
          </a:prstGeom>
          <a:solidFill>
            <a:srgbClr val="171821"/>
          </a:solidFill>
          <a:ln>
            <a:solidFill>
              <a:srgbClr val="303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83296" y="1993392"/>
            <a:ext cx="50292" cy="3310128"/>
          </a:xfrm>
          <a:prstGeom prst="rect">
            <a:avLst/>
          </a:prstGeom>
          <a:solidFill>
            <a:srgbClr val="32C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2212848"/>
            <a:ext cx="29626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6F6F8"/>
                </a:solidFill>
                <a:latin typeface="Aptos"/>
              </a:rPr>
              <a:t>Expansion Logic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688336"/>
            <a:ext cx="2962656" cy="2487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EB0BE"/>
                </a:solidFill>
                <a:latin typeface="Aptos"/>
              </a:rPr>
              <a:t>한국에서 Retention/결제 검증
→ 일본·대만 등 비영어권 시장
→ 로컬 UI + 영어 AI 대화라는 재사용 가능한 구조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65099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6F6F8"/>
                </a:solidFill>
                <a:latin typeface="Aptos"/>
              </a:rPr>
              <a:t>초기 목표는 시장 전체 점유가 아니라, 명확한 니치에서 강한 Product-Market Fit을 찾는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33679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EB0BE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53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53E6C"/>
                </a:solidFill>
                <a:latin typeface="Aptos"/>
              </a:rPr>
              <a:t>09 / COMPETITIVE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6F6F8"/>
                </a:solidFill>
                <a:latin typeface="Aptos"/>
              </a:rPr>
              <a:t>Adult Dating Sim과 AI Companion 사이의 하이브리드 포지션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38528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EB0BE"/>
                </a:solidFill>
                <a:latin typeface="Aptos"/>
              </a:rPr>
              <a:t>높음  ←  GAME STRUCTURE  →  낮음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14600"/>
            <a:ext cx="10972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AEB0BE"/>
                </a:solidFill>
                <a:latin typeface="Aptos"/>
              </a:rPr>
              <a:t>높음
↑
AI
PERSONALIZATION
↓
낮음</a:t>
            </a:r>
          </a:p>
        </p:txBody>
      </p:sp>
      <p:sp>
        <p:nvSpPr>
          <p:cNvPr id="7" name="Rectangle 6"/>
          <p:cNvSpPr/>
          <p:nvPr/>
        </p:nvSpPr>
        <p:spPr>
          <a:xfrm>
            <a:off x="1874519" y="2212848"/>
            <a:ext cx="5669280" cy="2971800"/>
          </a:xfrm>
          <a:prstGeom prst="rect">
            <a:avLst/>
          </a:prstGeom>
          <a:solidFill>
            <a:srgbClr val="171821"/>
          </a:solidFill>
          <a:ln>
            <a:solidFill>
              <a:srgbClr val="353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514600" y="4160520"/>
            <a:ext cx="1024128" cy="1024128"/>
          </a:xfrm>
          <a:prstGeom prst="ellipse">
            <a:avLst/>
          </a:prstGeom>
          <a:solidFill>
            <a:srgbClr val="E53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4434840"/>
            <a:ext cx="93268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F6F6F8"/>
                </a:solidFill>
                <a:latin typeface="Aptos"/>
              </a:rPr>
              <a:t>Traditional
Dating Sim</a:t>
            </a:r>
          </a:p>
        </p:txBody>
      </p:sp>
      <p:sp>
        <p:nvSpPr>
          <p:cNvPr id="10" name="Oval 9"/>
          <p:cNvSpPr/>
          <p:nvPr/>
        </p:nvSpPr>
        <p:spPr>
          <a:xfrm>
            <a:off x="6172200" y="2651760"/>
            <a:ext cx="1024128" cy="1024128"/>
          </a:xfrm>
          <a:prstGeom prst="ellipse">
            <a:avLst/>
          </a:prstGeom>
          <a:solidFill>
            <a:srgbClr val="77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926079"/>
            <a:ext cx="93268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F6F6F8"/>
                </a:solidFill>
                <a:latin typeface="Aptos"/>
              </a:rPr>
              <a:t>AI
Companion</a:t>
            </a:r>
          </a:p>
        </p:txBody>
      </p:sp>
      <p:sp>
        <p:nvSpPr>
          <p:cNvPr id="12" name="Oval 11"/>
          <p:cNvSpPr/>
          <p:nvPr/>
        </p:nvSpPr>
        <p:spPr>
          <a:xfrm>
            <a:off x="3886200" y="2926080"/>
            <a:ext cx="1024128" cy="1024128"/>
          </a:xfrm>
          <a:prstGeom prst="ellipse">
            <a:avLst/>
          </a:prstGeom>
          <a:solidFill>
            <a:srgbClr val="32C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0" y="3200400"/>
            <a:ext cx="93268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F6F6F8"/>
                </a:solidFill>
                <a:latin typeface="Aptos"/>
              </a:rPr>
              <a:t>CITY OF
LUST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2212848"/>
            <a:ext cx="3520440" cy="2971800"/>
          </a:xfrm>
          <a:prstGeom prst="roundRect">
            <a:avLst/>
          </a:prstGeom>
          <a:solidFill>
            <a:srgbClr val="171821"/>
          </a:solidFill>
          <a:ln>
            <a:solidFill>
              <a:srgbClr val="303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09560" y="2212848"/>
            <a:ext cx="50292" cy="2971800"/>
          </a:xfrm>
          <a:prstGeom prst="rect">
            <a:avLst/>
          </a:prstGeom>
          <a:solidFill>
            <a:srgbClr val="EFB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6" y="2432304"/>
            <a:ext cx="30815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6F6F8"/>
                </a:solidFill>
                <a:latin typeface="Aptos"/>
              </a:rPr>
              <a:t>Positioning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6" y="2907791"/>
            <a:ext cx="3081528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EB0BE"/>
                </a:solidFill>
                <a:latin typeface="Aptos"/>
              </a:rPr>
              <a:t>게임 구조: 목표·발견·실패·관계 변화
AI 개인화: 자유대화·Memory·Initiative
Visual: 실사형 캐릭터와 반응형 연출
→ 세 축을 동시에 가져가는 것이 차별화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33679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EB0BE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53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53E6C"/>
                </a:solidFill>
                <a:latin typeface="Aptos"/>
              </a:rPr>
              <a:t>10 / 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6F6F8"/>
                </a:solidFill>
                <a:latin typeface="Aptos"/>
              </a:rPr>
              <a:t>AI Companion은 고성장 인접시장 — 단, IR에서는 ‘시장 크기’보다 진입 가능한 니치가 중요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77240" y="1965960"/>
          <a:ext cx="548640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629400" y="1965960"/>
            <a:ext cx="4800600" cy="1389888"/>
          </a:xfrm>
          <a:prstGeom prst="roundRect">
            <a:avLst/>
          </a:prstGeom>
          <a:solidFill>
            <a:srgbClr val="171821"/>
          </a:solidFill>
          <a:ln>
            <a:solidFill>
              <a:srgbClr val="303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29400" y="1965960"/>
            <a:ext cx="50292" cy="1389888"/>
          </a:xfrm>
          <a:prstGeom prst="rect">
            <a:avLst/>
          </a:prstGeom>
          <a:solidFill>
            <a:srgbClr val="77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8856" y="2185415"/>
            <a:ext cx="43616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6F6F8"/>
                </a:solidFill>
                <a:latin typeface="Aptos"/>
              </a:rPr>
              <a:t>Adjacent 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8856" y="2660904"/>
            <a:ext cx="436168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EB0BE"/>
                </a:solidFill>
                <a:latin typeface="Aptos"/>
              </a:rPr>
              <a:t>2026 AI Companion 시장 추정치: $24.09B
2030: $70.91B · CAGR 약 31%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3584448"/>
            <a:ext cx="4800600" cy="1719072"/>
          </a:xfrm>
          <a:prstGeom prst="roundRect">
            <a:avLst/>
          </a:prstGeom>
          <a:solidFill>
            <a:srgbClr val="171821"/>
          </a:solidFill>
          <a:ln>
            <a:solidFill>
              <a:srgbClr val="303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29400" y="3584448"/>
            <a:ext cx="50292" cy="1719072"/>
          </a:xfrm>
          <a:prstGeom prst="rect">
            <a:avLst/>
          </a:prstGeom>
          <a:solidFill>
            <a:srgbClr val="32C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8856" y="3803904"/>
            <a:ext cx="43616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6F6F8"/>
                </a:solidFill>
                <a:latin typeface="Aptos"/>
              </a:rPr>
              <a:t>Our SAM / SOM — 아직 검증 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8856" y="4279392"/>
            <a:ext cx="4361688" cy="8961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EB0BE"/>
                </a:solidFill>
                <a:latin typeface="Aptos"/>
              </a:rPr>
              <a:t>SAM: 한국·일본·대만 등 비영어권 성인 PC/AI relationship 관심층
SOM: 출시 후 실제 Wishlist → 구매전환 → Retention 데이터로 Bottom-up 산정
※ 현재 단계에서 임의의 억 단위 숫자를 만들지 않음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36792"/>
            <a:ext cx="10332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AEB0BE"/>
                </a:solidFill>
                <a:latin typeface="Aptos"/>
              </a:rPr>
              <a:t>Source: The Business Research Company, AI Companion Market Report 2026. Market definitions vary materially by research firm.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84280" y="633679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EB0BE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53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53E6C"/>
                </a:solidFill>
                <a:latin typeface="Aptos"/>
              </a:rPr>
              <a:t>11 / 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6F6F8"/>
                </a:solidFill>
                <a:latin typeface="Aptos"/>
              </a:rPr>
              <a:t>초기에는 단순한 Premium 모델 — 성공 후 콘텐츠 수익화를 확장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993392"/>
            <a:ext cx="3401568" cy="3337560"/>
          </a:xfrm>
          <a:prstGeom prst="roundRect">
            <a:avLst/>
          </a:prstGeom>
          <a:solidFill>
            <a:srgbClr val="171821"/>
          </a:solidFill>
          <a:ln>
            <a:solidFill>
              <a:srgbClr val="303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993392"/>
            <a:ext cx="50292" cy="3337560"/>
          </a:xfrm>
          <a:prstGeom prst="rect">
            <a:avLst/>
          </a:prstGeom>
          <a:solidFill>
            <a:srgbClr val="E53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212848"/>
            <a:ext cx="29626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6F6F8"/>
                </a:solidFill>
                <a:latin typeface="Aptos"/>
              </a:rPr>
              <a:t>Base Game · Premium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688336"/>
            <a:ext cx="296265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EB0BE"/>
                </a:solidFill>
                <a:latin typeface="Aptos"/>
              </a:rPr>
              <a:t>PC 유료 패키지
가격 가설: USD 19.99–29.99 수준을 A/B 검증
핵심 경험 전체를 기본 제품에 제공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8264" y="1993392"/>
            <a:ext cx="3401568" cy="3337560"/>
          </a:xfrm>
          <a:prstGeom prst="roundRect">
            <a:avLst/>
          </a:prstGeom>
          <a:solidFill>
            <a:srgbClr val="171821"/>
          </a:solidFill>
          <a:ln>
            <a:solidFill>
              <a:srgbClr val="303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98264" y="1993392"/>
            <a:ext cx="50292" cy="3337560"/>
          </a:xfrm>
          <a:prstGeom prst="rect">
            <a:avLst/>
          </a:prstGeom>
          <a:solidFill>
            <a:srgbClr val="77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212848"/>
            <a:ext cx="29626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6F6F8"/>
                </a:solidFill>
                <a:latin typeface="Aptos"/>
              </a:rPr>
              <a:t>Content Expansion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688336"/>
            <a:ext cx="296265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EB0BE"/>
                </a:solidFill>
                <a:latin typeface="Aptos"/>
              </a:rPr>
              <a:t>신규 NPC Pack
새로운 장소/Story/Event Pack
고품질 Character/Voice/Visual 확장
※ Pay-to-win 관계 시스템은 지양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993392"/>
            <a:ext cx="3401568" cy="3337560"/>
          </a:xfrm>
          <a:prstGeom prst="roundRect">
            <a:avLst/>
          </a:prstGeom>
          <a:solidFill>
            <a:srgbClr val="171821"/>
          </a:solidFill>
          <a:ln>
            <a:solidFill>
              <a:srgbClr val="303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83296" y="1993392"/>
            <a:ext cx="50292" cy="3337560"/>
          </a:xfrm>
          <a:prstGeom prst="rect">
            <a:avLst/>
          </a:prstGeom>
          <a:solidFill>
            <a:srgbClr val="32C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2212848"/>
            <a:ext cx="29626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6F6F8"/>
                </a:solidFill>
                <a:latin typeface="Aptos"/>
              </a:rPr>
              <a:t>Long-Term Optional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688336"/>
            <a:ext cx="296265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EB0BE"/>
                </a:solidFill>
                <a:latin typeface="Aptos"/>
              </a:rPr>
              <a:t>Creator/UGC Marketplace
Connected World 기능
구독은 AI 원가·Retention이 검증된 이후 검토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65099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6F6F8"/>
                </a:solidFill>
                <a:latin typeface="Aptos"/>
              </a:rPr>
              <a:t>Unit Economics의 핵심: LLM/TTS/Video 원가를 플레이 시간에 비례해 폭증시키지 않는 구조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33679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EB0BE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53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53E6C"/>
                </a:solidFill>
                <a:latin typeface="Aptos"/>
              </a:rPr>
              <a:t>12 / ROADMAP &amp; PROOF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6F6F8"/>
                </a:solidFill>
                <a:latin typeface="Aptos"/>
              </a:rPr>
              <a:t>투자 전후의 목표는 ‘기능 수’가 아니라 세 가지 핵심 가설 검증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993392"/>
            <a:ext cx="2487168" cy="3429000"/>
          </a:xfrm>
          <a:prstGeom prst="roundRect">
            <a:avLst/>
          </a:prstGeom>
          <a:solidFill>
            <a:srgbClr val="171821"/>
          </a:solidFill>
          <a:ln>
            <a:solidFill>
              <a:srgbClr val="303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993392"/>
            <a:ext cx="50292" cy="3429000"/>
          </a:xfrm>
          <a:prstGeom prst="rect">
            <a:avLst/>
          </a:prstGeom>
          <a:solidFill>
            <a:srgbClr val="E53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212848"/>
            <a:ext cx="20482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6F6F8"/>
                </a:solidFill>
                <a:latin typeface="Aptos"/>
              </a:rPr>
              <a:t>NOW · Core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688336"/>
            <a:ext cx="2048256" cy="2606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EB0BE"/>
                </a:solidFill>
                <a:latin typeface="Aptos"/>
              </a:rPr>
              <a:t>Compatibility
AI conversation
Language choice
Character pipeline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993392"/>
            <a:ext cx="2487168" cy="3429000"/>
          </a:xfrm>
          <a:prstGeom prst="roundRect">
            <a:avLst/>
          </a:prstGeom>
          <a:solidFill>
            <a:srgbClr val="171821"/>
          </a:solidFill>
          <a:ln>
            <a:solidFill>
              <a:srgbClr val="303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993392"/>
            <a:ext cx="50292" cy="3429000"/>
          </a:xfrm>
          <a:prstGeom prst="rect">
            <a:avLst/>
          </a:prstGeom>
          <a:solidFill>
            <a:srgbClr val="77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94176" y="2212848"/>
            <a:ext cx="20482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6F6F8"/>
                </a:solidFill>
                <a:latin typeface="Aptos"/>
              </a:rPr>
              <a:t>P1 · Vertical Slice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94176" y="2688336"/>
            <a:ext cx="2048256" cy="2606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EB0BE"/>
                </a:solidFill>
                <a:latin typeface="Aptos"/>
              </a:rPr>
              <a:t>3–6 NPC
Memory + Initiative
Event Director
Visual consistency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993392"/>
            <a:ext cx="2487168" cy="3429000"/>
          </a:xfrm>
          <a:prstGeom prst="roundRect">
            <a:avLst/>
          </a:prstGeom>
          <a:solidFill>
            <a:srgbClr val="171821"/>
          </a:solidFill>
          <a:ln>
            <a:solidFill>
              <a:srgbClr val="303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6208" y="1993392"/>
            <a:ext cx="50292" cy="3429000"/>
          </a:xfrm>
          <a:prstGeom prst="rect">
            <a:avLst/>
          </a:prstGeom>
          <a:solidFill>
            <a:srgbClr val="32C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2212848"/>
            <a:ext cx="20482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6F6F8"/>
                </a:solidFill>
                <a:latin typeface="Aptos"/>
              </a:rPr>
              <a:t>P2 · Korea Alpha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2688336"/>
            <a:ext cx="2048256" cy="2606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EB0BE"/>
                </a:solidFill>
                <a:latin typeface="Aptos"/>
              </a:rPr>
              <a:t>Retention
Price/WTP
AI cost per user
Content cadence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97696" y="1993392"/>
            <a:ext cx="2487168" cy="3429000"/>
          </a:xfrm>
          <a:prstGeom prst="roundRect">
            <a:avLst/>
          </a:prstGeom>
          <a:solidFill>
            <a:srgbClr val="171821"/>
          </a:solidFill>
          <a:ln>
            <a:solidFill>
              <a:srgbClr val="303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97696" y="1993392"/>
            <a:ext cx="50292" cy="3429000"/>
          </a:xfrm>
          <a:prstGeom prst="rect">
            <a:avLst/>
          </a:prstGeom>
          <a:solidFill>
            <a:srgbClr val="EFB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17152" y="2212848"/>
            <a:ext cx="20482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6F6F8"/>
                </a:solidFill>
                <a:latin typeface="Aptos"/>
              </a:rPr>
              <a:t>P3 · Launch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7152" y="2688336"/>
            <a:ext cx="2048256" cy="2606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EB0BE"/>
                </a:solidFill>
                <a:latin typeface="Aptos"/>
              </a:rPr>
              <a:t>Korea PC launch
Data-driven expansion
Japan/Taiwan prep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614416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53E6C"/>
                </a:solidFill>
                <a:latin typeface="Aptos"/>
              </a:rPr>
              <a:t>Gate Metrics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568696"/>
            <a:ext cx="9418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6F6F8"/>
                </a:solidFill>
                <a:latin typeface="Aptos"/>
              </a:rPr>
              <a:t>① NPC 차별성 체감  ② 10시간+ 플레이 지속성  ③ AI/Video 원가의 상용화 가능성  ④ 한국 유저의 영어 모드 사용률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633679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EB0BE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53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53E6C"/>
                </a:solidFill>
                <a:latin typeface="Aptos"/>
              </a:rPr>
              <a:t>13 / INVESTMENT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6F6F8"/>
                </a:solidFill>
                <a:latin typeface="Aptos"/>
              </a:rPr>
              <a:t>투자 목적: 더 큰 게임을 만드는 것이 아니라 ‘핵심 재미를 증명하는 완성도’ 확보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993392"/>
            <a:ext cx="3401568" cy="3337560"/>
          </a:xfrm>
          <a:prstGeom prst="roundRect">
            <a:avLst/>
          </a:prstGeom>
          <a:solidFill>
            <a:srgbClr val="171821"/>
          </a:solidFill>
          <a:ln>
            <a:solidFill>
              <a:srgbClr val="303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993392"/>
            <a:ext cx="50292" cy="3337560"/>
          </a:xfrm>
          <a:prstGeom prst="rect">
            <a:avLst/>
          </a:prstGeom>
          <a:solidFill>
            <a:srgbClr val="E53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212848"/>
            <a:ext cx="29626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6F6F8"/>
                </a:solidFill>
                <a:latin typeface="Aptos"/>
              </a:rPr>
              <a:t>Use of Funds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688336"/>
            <a:ext cx="296265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EB0BE"/>
                </a:solidFill>
                <a:latin typeface="Aptos"/>
              </a:rPr>
              <a:t>40% · Character / Visual / Video pipeline
25% · AI NPC / Memory / Event system
20% · Core game polish / UX / QA
15% · Korea launch / community / compliance
※ 실제 예산 확정 후 조정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8264" y="1993392"/>
            <a:ext cx="3401568" cy="3337560"/>
          </a:xfrm>
          <a:prstGeom prst="roundRect">
            <a:avLst/>
          </a:prstGeom>
          <a:solidFill>
            <a:srgbClr val="171821"/>
          </a:solidFill>
          <a:ln>
            <a:solidFill>
              <a:srgbClr val="303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98264" y="1993392"/>
            <a:ext cx="50292" cy="3337560"/>
          </a:xfrm>
          <a:prstGeom prst="rect">
            <a:avLst/>
          </a:prstGeom>
          <a:solidFill>
            <a:srgbClr val="77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212848"/>
            <a:ext cx="29626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6F6F8"/>
                </a:solidFill>
                <a:latin typeface="Aptos"/>
              </a:rPr>
              <a:t>Funding Amount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688336"/>
            <a:ext cx="296265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EB0BE"/>
                </a:solidFill>
                <a:latin typeface="Aptos"/>
              </a:rPr>
              <a:t>TBD
투자금 규모는
• 현재 burn rate
• 외주/채용 계획
• 12–18개월 runway
확정 후 산출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993392"/>
            <a:ext cx="3401568" cy="3337560"/>
          </a:xfrm>
          <a:prstGeom prst="roundRect">
            <a:avLst/>
          </a:prstGeom>
          <a:solidFill>
            <a:srgbClr val="171821"/>
          </a:solidFill>
          <a:ln>
            <a:solidFill>
              <a:srgbClr val="303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83296" y="1993392"/>
            <a:ext cx="50292" cy="3337560"/>
          </a:xfrm>
          <a:prstGeom prst="rect">
            <a:avLst/>
          </a:prstGeom>
          <a:solidFill>
            <a:srgbClr val="32C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2212848"/>
            <a:ext cx="29626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6F6F8"/>
                </a:solidFill>
                <a:latin typeface="Aptos"/>
              </a:rPr>
              <a:t>Why Invest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688336"/>
            <a:ext cx="296265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EB0BE"/>
                </a:solidFill>
                <a:latin typeface="Aptos"/>
              </a:rPr>
              <a:t>이미 존재하는 Compatibility 설계와 AI 대화 기반
1인 개발의 범위를 통제하면서
‘AI Relationship Game’이라는 명확한 카테고리 가설 검증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669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6F6F8"/>
                </a:solidFill>
                <a:latin typeface="Aptos"/>
              </a:rPr>
              <a:t>CITY OF LUST  ·  From scripted dating content to living AI relationships.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33679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EB0BE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